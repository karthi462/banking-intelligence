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VELLORE INSTITUTE OF TECHNOLOGY (VIT)</a:t>
            </a:r>
          </a:p>
          <a:p>
            <a:pPr algn="ctr">
              <a:spcBef>
                <a:spcPts val="300"/>
              </a:spcBef>
              <a:defRPr sz="1300" b="1">
                <a:solidFill>
                  <a:srgbClr val="38BDF8"/>
                </a:solidFill>
              </a:defRPr>
            </a:pPr>
            <a:r>
              <a:t>SCHOOL OF COMPUTER SCIENCE AND ENGINEERING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Innovative Evaluation Practices for Laboratory Courses – Fall Semester 2026-27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828800"/>
            <a:ext cx="6339535" cy="384048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COURSE: CSI3005 – ADVANCED DATA VISUALIZATION | MAXIMUM MARKS: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Banking Transaction Intelligence &amp; Time-Series Anomaly Surveillance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A Comprehensive Open-Ended Case Study on Multi-Channel Financial Liquidity, Diurnal Rhythms, and Statistical Outliers Using R, Python, and Interactive Web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566160"/>
            <a:ext cx="9997135" cy="2560320"/>
          </a:xfrm>
          <a:prstGeom prst="roundRect">
            <a:avLst/>
          </a:prstGeom>
          <a:solidFill>
            <a:srgbClr val="0B12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STUDENT CREDENTIALS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Student Name: </a:t>
            </a:r>
            <a:r>
              <a:rPr b="0">
                <a:solidFill>
                  <a:srgbClr val="CBD5E1"/>
                </a:solidFill>
              </a:rPr>
              <a:t>Karthick M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Register Number: </a:t>
            </a:r>
            <a:r>
              <a:rPr b="0">
                <a:solidFill>
                  <a:srgbClr val="CBD5E1"/>
                </a:solidFill>
              </a:rPr>
              <a:t>21BCE0000 / [Your Reg No]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Programme: </a:t>
            </a:r>
            <a:r>
              <a:rPr b="0">
                <a:solidFill>
                  <a:srgbClr val="CBD5E1"/>
                </a:solidFill>
              </a:rPr>
              <a:t>B.Tech Computer Science &amp; Engg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Semester: </a:t>
            </a:r>
            <a:r>
              <a:rPr b="0">
                <a:solidFill>
                  <a:srgbClr val="CBD5E1"/>
                </a:solidFill>
              </a:rPr>
              <a:t>Fall Semester 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49039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CASE STUDY DOMAIN &amp; SCOPE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Domain Selected: </a:t>
            </a:r>
            <a:r>
              <a:rPr b="0">
                <a:solidFill>
                  <a:srgbClr val="CBD5E1"/>
                </a:solidFill>
              </a:rPr>
              <a:t>Financial Analytics &amp; Banking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Assessment Type: </a:t>
            </a:r>
            <a:r>
              <a:rPr b="0">
                <a:solidFill>
                  <a:srgbClr val="CBD5E1"/>
                </a:solidFill>
              </a:rPr>
              <a:t>Case Study - Based Lab Assessment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Dataset Size: </a:t>
            </a:r>
            <a:r>
              <a:rPr b="0">
                <a:solidFill>
                  <a:srgbClr val="CBD5E1"/>
                </a:solidFill>
              </a:rPr>
              <a:t>15,004 Time-Series Banking Records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Primary Toolset: </a:t>
            </a:r>
            <a:r>
              <a:rPr b="0">
                <a:solidFill>
                  <a:srgbClr val="CBD5E1"/>
                </a:solidFill>
              </a:rPr>
              <a:t>R (ggplot2, forecast) + Python (FastAPI)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749039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EVALUATION CRITERIA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Data Preparation: </a:t>
            </a:r>
            <a:r>
              <a:rPr b="0">
                <a:solidFill>
                  <a:srgbClr val="D97706"/>
                </a:solidFill>
              </a:rPr>
              <a:t>5 Marks (Component 1)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Visual Selection: </a:t>
            </a:r>
            <a:r>
              <a:rPr b="0">
                <a:solidFill>
                  <a:srgbClr val="D97706"/>
                </a:solidFill>
              </a:rPr>
              <a:t>5 Marks (Component 2)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Design &amp; Layout: </a:t>
            </a:r>
            <a:r>
              <a:rPr b="0">
                <a:solidFill>
                  <a:srgbClr val="D97706"/>
                </a:solidFill>
              </a:rPr>
              <a:t>5 Marks (Component 3)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Insights &amp; R Code: </a:t>
            </a:r>
            <a:r>
              <a:rPr b="0">
                <a:solidFill>
                  <a:srgbClr val="D97706"/>
                </a:solidFill>
              </a:rPr>
              <a:t>5 Marks (Component 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ASSESSMENT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Table of Contents &amp; Submission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02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50876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Title &amp; Domain Description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Real-world banking analytics, UPI velocity &amp; liquidity crisis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56032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51460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Objective &amp; Analytical Questions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Core objectives, hypothesis testing &amp; temporal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56616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2044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Dataset Description &amp; Source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15,004 verified records schema, attributes &amp; generation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57200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52628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Data Preprocessing &amp; Preparation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Null auditing, fence validation, datetime parsing &amp; mapping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406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53212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Visual Techniques Selection Rationale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Justification of Heatmaps, Dual Rolling MAs, STL &amp; Fences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141732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07407" y="155448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1" y="150876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Major Visualization 1: Temporal Heatmaps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24x7 Diurnal 168-hour rush matrix &amp; calendar density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242316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07407" y="256032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1" y="251460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Major Visualization 2: Trend Smoothing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7-day &amp; 30-day moving averages, deposit vs withdrawal curves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342900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07407" y="356616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1" y="352044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Major Visualization 3: Payment Analytics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UPI, ATM, Debit/Credit Cards &amp; Bank Transfers failure rates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43484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07407" y="457200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1" y="452628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Major Visualization 4: Anomaly Scoring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Non-parametric MAD &amp; IQR fences separating outliers from fraud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79" y="54406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07407" y="557784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9471" y="553212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Major Visualization 5: Time-Series Forecast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14-day forward Holt-Winters &amp; SARIMAX chronological 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141732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56447" y="155448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8511" y="150876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Major Visualization 6: Regional Metros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6 Metropolitan commercial centers benchmarking &amp; ticket sizes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19" y="242316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56447" y="256032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1" y="251460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Interactive Web Analytics Architecture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React 19, FastAPI microservice, and multi-role bank personas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19" y="342900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56447" y="356616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1" y="352044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Key Findings &amp; Actionable Insights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Bimodal rush hours, channel decoupling &amp; operational takeaways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19" y="443484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56447" y="457200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1" y="452628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R Code Implementation Pipeline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Reproducible scripts: ggplot2, zoo, forecast, and plotly modules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19" y="54406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56447" y="557784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68511" y="553212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Rubric Self-Evaluation &amp; Conclusion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Component mapping (5+5+5+5 = 20 Marks) &amp; final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1: CASE STUDY &amp; PROBLEM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1. Title of Case Study &amp; Domain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03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Selected Case Study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BANKING TRANSACTION INTELLIGENCE &amp; TIME-SERIES ANOMALY SURVEILLANCE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Title: APEX BANK Multi-Channel Transaction Intelligence Dashboard.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Target Domain: Financial Analytics, Banking Liquidity &amp; Risk Surveillance.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Context: Rapid expansion of digital retail payments in India (UPI, Mobile Banking, RTGS/NEFT).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Focus: Analyzing temporal velocity, channel load balancing, and non-parametric statistical outliers.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36118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 Real-World Financial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SWITCH CONGESTION &amp; FALSE-POSITIVE FRAUD FLAGGING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Over 80% of daily transactions occur digitally, creating extreme server switch congestion at peak hours.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Core banking switches suffer switch timeouts during midday lunch (12–2 PM) and evening shopping (6–8 PM).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Crucial Problem: High-value corporate transactions (e.g. advance payments, vendor invoices) are frequently mislabeled as fraudulent.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Financial distributions are extremely fat-tailed and right-skewed, breaking normal distribution 3-sigma assumptions.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17320"/>
            <a:ext cx="361188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Why Advanced Data Visualization?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TRANSFORMING COMPLEX MULTI-VARIATE TIME-SERIES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Static tables fail to reveal temporal diurnal rhythms across 168 weekly hours.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Dual moving averages (7d &amp; 30d) are required to decouple macro momentum from daily volatility.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Color-encoded heatmaps allow branch managers to immediately detect switch stress windows.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Visualization bridges the gap between raw ledger databases and executive liquidity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1: ANALYTICAL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2. Objectives of Analysis &amp; Analytical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04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Core Objectives of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FIVE KEY ANALYTICAL PILLARS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1. Temporal Dynamics: </a:t>
            </a:r>
            <a:r>
              <a:rPr b="0">
                <a:solidFill>
                  <a:srgbClr val="64748B"/>
                </a:solidFill>
              </a:rPr>
              <a:t>Track and visualize daily transaction volume and monetary amount fluctuations over a 90-day continuum.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2. Diurnal Rush Identification: </a:t>
            </a:r>
            <a:r>
              <a:rPr b="0">
                <a:solidFill>
                  <a:srgbClr val="64748B"/>
                </a:solidFill>
              </a:rPr>
              <a:t>Isolate specific hours of the day and days of the week where switch failure velocity is highest.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3. Channel Performance Comparison: </a:t>
            </a:r>
            <a:r>
              <a:rPr b="0">
                <a:solidFill>
                  <a:srgbClr val="64748B"/>
                </a:solidFill>
              </a:rPr>
              <a:t>Compare transaction share, ticket sizes, and clearance rates across UPI, ATM, Debit Card, Credit Card, and Bank Transfers.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4. Non-Parametric Outlier Fencing: </a:t>
            </a:r>
            <a:r>
              <a:rPr b="0">
                <a:solidFill>
                  <a:srgbClr val="64748B"/>
                </a:solidFill>
              </a:rPr>
              <a:t>Detect statistically unusual transactions using MAD &amp; IQR while strictly avoiding mislabeling legitimate outliers as fraud.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5. Chronological Forecasting: </a:t>
            </a:r>
            <a:r>
              <a:rPr b="0">
                <a:solidFill>
                  <a:srgbClr val="64748B"/>
                </a:solidFill>
              </a:rPr>
              <a:t>Forecast upcoming 14-day transaction activity using Holt-Winters &amp; SARIMAX without forward data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48640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8640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 Analytical Questions (Research Hypotheses)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FORMULATING EMPIRICAL QUESTIONS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Q1. Peak Hour Hypothesis: </a:t>
            </a:r>
            <a:r>
              <a:rPr b="0">
                <a:solidFill>
                  <a:srgbClr val="64748B"/>
                </a:solidFill>
              </a:rPr>
              <a:t>Does transaction frequency exhibit a bimodal distribution with distinct lunch and evening surges?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Q2. Channel Decoupling: </a:t>
            </a:r>
            <a:r>
              <a:rPr b="0">
                <a:solidFill>
                  <a:srgbClr val="64748B"/>
                </a:solidFill>
              </a:rPr>
              <a:t>Does UPI lead in transaction count while Bank Transfers dominate aggregate settled capital?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Q3. Day-of-Week Rhythm: </a:t>
            </a:r>
            <a:r>
              <a:rPr b="0">
                <a:solidFill>
                  <a:srgbClr val="64748B"/>
                </a:solidFill>
              </a:rPr>
              <a:t>Do retail payment volumes increase on weekends while corporate RTGS/NEFT settlement contracts?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Q4. Month-End Surge: </a:t>
            </a:r>
            <a:r>
              <a:rPr b="0">
                <a:solidFill>
                  <a:srgbClr val="64748B"/>
                </a:solidFill>
              </a:rPr>
              <a:t>Is there a statistically significant liquidity spike occurring on the final three days of each month due to salary disbursements?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Q5. Robust Anomaly Specificity: </a:t>
            </a:r>
            <a:r>
              <a:rPr b="0">
                <a:solidFill>
                  <a:srgbClr val="64748B"/>
                </a:solidFill>
              </a:rPr>
              <a:t>Does Median Absolute Deviation (MAD) reduce false positive flags by &gt;90% compared to Gaussian 3-sigma?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1: DATASET &amp;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3. Dataset Description, Attributes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05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Dataset Description &amp;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15,004 REALISTIC TRANSACTION RECORDS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Source &amp; Nature: </a:t>
            </a:r>
            <a:r>
              <a:rPr b="0">
                <a:solidFill>
                  <a:srgbClr val="64748B"/>
                </a:solidFill>
              </a:rPr>
              <a:t>Calibrated synthetic banking transaction benchmark generated using verified statistical models reflecting Reserve Bank of India (RBI) payment trends.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Temporal Span: </a:t>
            </a:r>
            <a:r>
              <a:rPr b="0">
                <a:solidFill>
                  <a:srgbClr val="64748B"/>
                </a:solidFill>
              </a:rPr>
              <a:t>90 consecutive days (2026-07-01 to 2026-09-30) capturing 15,004 discrete transactions.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Data Volume: </a:t>
            </a:r>
            <a:r>
              <a:rPr b="0">
                <a:solidFill>
                  <a:srgbClr val="64748B"/>
                </a:solidFill>
              </a:rPr>
              <a:t>Gross value of ₹248.5 Crores across 6 metropolitan banking operations centers.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Ground Truth Labels: </a:t>
            </a:r>
            <a:r>
              <a:rPr b="0">
                <a:solidFill>
                  <a:srgbClr val="64748B"/>
                </a:solidFill>
              </a:rPr>
              <a:t>Known calibrated anomalies (volume surges, high-value outliers, gateway dropouts) for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36118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Key Schema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10 CRITICAL BANKING VARIABLES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transaction_id: </a:t>
            </a:r>
            <a:r>
              <a:rPr b="0">
                <a:solidFill>
                  <a:srgbClr val="64748B"/>
                </a:solidFill>
              </a:rPr>
              <a:t>Unique alphanumeric identifier (e.g. TXN-10001).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timestamp: </a:t>
            </a:r>
            <a:r>
              <a:rPr b="0">
                <a:solidFill>
                  <a:srgbClr val="64748B"/>
                </a:solidFill>
              </a:rPr>
              <a:t>Full ISO datetime recording exact second of execution.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transaction_type: </a:t>
            </a:r>
            <a:r>
              <a:rPr b="0">
                <a:solidFill>
                  <a:srgbClr val="64748B"/>
                </a:solidFill>
              </a:rPr>
              <a:t>Categorical: Deposit, Withdrawal, Transfer, Fee.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amount: </a:t>
            </a:r>
            <a:r>
              <a:rPr b="0">
                <a:solidFill>
                  <a:srgbClr val="64748B"/>
                </a:solidFill>
              </a:rPr>
              <a:t>Continuous monetary value in Indian Rupees (₹10 to ₹10,00,000+).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payment_mode: </a:t>
            </a:r>
            <a:r>
              <a:rPr b="0">
                <a:solidFill>
                  <a:srgbClr val="64748B"/>
                </a:solidFill>
              </a:rPr>
              <a:t>Channel: UPI, ATM, Debit Card, Credit Card, Bank Transfer.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branch: </a:t>
            </a:r>
            <a:r>
              <a:rPr b="0">
                <a:solidFill>
                  <a:srgbClr val="64748B"/>
                </a:solidFill>
              </a:rPr>
              <a:t>Metros: Mumbai Fort, Delhi CP, Bengaluru, Chennai, Hyd, Kolkata.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status: </a:t>
            </a:r>
            <a:r>
              <a:rPr b="0">
                <a:solidFill>
                  <a:srgbClr val="64748B"/>
                </a:solidFill>
              </a:rPr>
              <a:t>Outcome: Success (93.8%), Failed (6.2%).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account_type: </a:t>
            </a:r>
            <a:r>
              <a:rPr b="0">
                <a:solidFill>
                  <a:srgbClr val="64748B"/>
                </a:solidFill>
              </a:rPr>
              <a:t>Savings, Current, Fixed Deposit, Loan 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17320"/>
            <a:ext cx="361188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Data Cleaning &amp; Preprocessing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RIGOROUS 5-STAGE PREPARATION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1. Missing Value Imputation: </a:t>
            </a:r>
            <a:r>
              <a:rPr b="0">
                <a:solidFill>
                  <a:srgbClr val="64748B"/>
                </a:solidFill>
              </a:rPr>
              <a:t>Verified 0% null values in critical financial columns (amount, timestamp).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2. Datetime Parsing: </a:t>
            </a:r>
            <a:r>
              <a:rPr b="0">
                <a:solidFill>
                  <a:srgbClr val="64748B"/>
                </a:solidFill>
              </a:rPr>
              <a:t>Converted raw string timestamps into pandas/lubridate datetime objects; extracted hour, day, weekday.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3. Fence &amp; Integrity Checks: </a:t>
            </a:r>
            <a:r>
              <a:rPr b="0">
                <a:solidFill>
                  <a:srgbClr val="64748B"/>
                </a:solidFill>
              </a:rPr>
              <a:t>Quarantined non-positive transaction amounts (amount &lt;= 0) and future timestamps.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4. Resampling &amp; Aggregation: </a:t>
            </a:r>
            <a:r>
              <a:rPr b="0">
                <a:solidFill>
                  <a:srgbClr val="64748B"/>
                </a:solidFill>
              </a:rPr>
              <a:t>Grouped observations into daily (D), weekly (W), and monthly (M) time-series.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5. Normalization &amp; Scaling: </a:t>
            </a:r>
            <a:r>
              <a:rPr b="0">
                <a:solidFill>
                  <a:srgbClr val="64748B"/>
                </a:solidFill>
              </a:rPr>
              <a:t>Prepared log-transformed series for variance stabilization in forecasting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2: VISUALIZATION DESIGN &amp;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4. Visualization Techniques Selection &amp; Design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06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Technique 1: 24x7 Hour × Day Heatmap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Visual Encoding: Discrete 2-D matrix with color-intensity fill (light teal to deep indigo).</a:t>
            </a:r>
            <a:br/>
            <a:r>
              <a:t>Why Chosen: Visualizes all 168 weekly hours simultaneously without clutter. Immediately isolates midday lunch (12–2 PM) and evening (6–8 PM) switch stress.</a:t>
            </a:r>
            <a:br/>
            <a:r>
              <a:t>Design Features: Clear axis labels (Monday–Sunday, 00:00–23:00) with dynamic metric switching (Count, Total Volume, Average Ticket Size).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Technique 2: Dual Rolling Moving Averages (7d &amp; 30d)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Visual Encoding: Primary line chart with raw daily fluctuations overlaid with 7-day and 30-day smoothed moving average curves.</a:t>
            </a:r>
            <a:br/>
            <a:r>
              <a:t>Why Chosen: 7-day MA removes intra-week day-of-week seasonality; 30-day MA isolates macroeconomic liquidity trajectory.</a:t>
            </a:r>
            <a:br/>
            <a:r>
              <a:t>Design Features: Contrasting colors (blue raw, amber 7d MA, teal 30d MA) with interactive hover tooltips.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5079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Technique 3: Boxplots &amp; Non-Parametric Fences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Visual Encoding: Five-number summary boxplots with whiskers at 1.5×IQR and highlighted red outlier markers.</a:t>
            </a:r>
            <a:br/>
            <a:r>
              <a:t>Why Chosen: Financial transaction distributions are heavily skewed. Boxplots and MAD fences provide robust, unbiased outlier detection without Gaussian bias.</a:t>
            </a:r>
            <a:br/>
            <a:r>
              <a:t>Design Features: Faceted by branch and payment mode to evaluate variance across regional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5079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Technique 4: Chronological Forecast Fan Charts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Visual Encoding: Historical time-series connected smoothly to 14-day future predictions flanked by 80% and 95% confidence intervals.</a:t>
            </a:r>
            <a:br/>
            <a:r>
              <a:t>Why Chosen: Communicates statistical uncertainty honestly rather than giving misleading single-point estimates.</a:t>
            </a:r>
            <a:br/>
            <a:r>
              <a:t>Design Features: Shaded ribbon confidence intervals highlighting expanding uncertainty over the 14-day horizon.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3 &amp; 4: VISUALIZATION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5.A Welcome Portal &amp; Role-Based Clearance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07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Multi-persona access portal mapping 5 banking operational roles (Corporate, Retail Savings, Branch Manager, Risk Compliance, Global Executive) with live macro-aggregates.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Demonstrates role-based security clearance: selecting a persona immediately bounds data filters to the respective account scope.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Live aggregate ticker displays ₹248.5 Cr total transaction value, 15,004 verified records, and 93.8% gateway velocity.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Eliminates static dashboard limitations by enabling personalized multi-perspective visual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⚡ Authentication: Session Persona Scopes • Route: /welcome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welcome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3 &amp; 4: VISUALIZATION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5.B Dashboard Overview &amp; Financial KPI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08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Executive cockpit featuring 6 high-level KPI cards, daily volume time-series chart, payment mode distribution, and real-time transaction ledger.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Total Volume (₹248.5 Cr) and Success Velocity (93.8%) confirm robust systemic liquidity.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Indian Numbering System (Lakhs and Crores) ensures visual familiarity for Indian banking audits.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Period-over-period percentage changes evaluate current 30-day velocity against previous baseline.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Recent activity table displays transaction ID, timestamp, channel, branch, and anomaly indicator.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📊 KPI Formula: Velocity = (Txn_Success / Txn_Total) ×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3 &amp; 4: VISUALIZATION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5.C Transaction Trends &amp; Dual Moving Averages (7d &amp; 30d)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09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Time-series chart comparing actual daily transaction volume against 7-day and 30-day rolling moving averages with cumulative liquidity curve.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7-Day Moving Average effectively smooths intra-week variance caused by low Sunday banking activity.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30-Day Moving Average reveals steady 14.2% quarter-over-quarter expansion in digital transactions.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Cumulative Liquidity Curve monitors net capital accumulation, proving liquidity stability over 90 days.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Deposit vs Withdrawal comparative curves highlight positive net inflow across all commercial hubs.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📈 Rolling MA Formula: MA_k(t) = (1/k) ∑_{i=0}^{k-1} Txn(t - 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transaction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3 &amp; 4: VISUALIZATION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5.D 24x7 Diurnal Heatmaps &amp; Peak Rush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10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168-cell matrix mapping 24 hours of the day against all 7 days of the week using color intensity to visualize switch traffic density.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Discovers distinct bimodal distribution: primary peak during lunch (12:00–14:00) and secondary evening peak (18:00–20:00).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Off-peak hours (02:00–05:00 AM) exhibit near-zero velocity, indicating the ideal window for core switch maintenance.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Weekend days (Saturday &amp; Sunday) exhibit elevated afternoon retail peer-to-peer micro-transactions.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STL decomposition isolates true seasonal diurnal rhythm from underlying trend progression.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⏰ Matrix Dimensions: 24 Hours × 7 Days = 168 Discrete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time_analysis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3 &amp; 4: VISUALIZATION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5.E Payment Channel Analytics &amp; Failure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11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Channel comparative analytics breaking down transaction count, settled volume, average ticket size, and gateway failure velocity by payment method.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UPI dominates transaction count with 62.4% share, but maintains a low average ticket size (₹1,420).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Bank Transfers (RTGS/NEFT) represent only 8.2% of transactions but 68.3% of total settled capital.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ATM withdrawals peak on Friday and Saturday, proving persistent demand for physical currency.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Failure rate monitoring identifies elevated switch timeout drops in debit cards during peak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💳 Channels: UPI • ATM • Debit Card • Credit Card • Transfer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paymen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3 &amp; 4: VISUALIZATION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5.F Statistical Anomaly Detection (MAD &amp; IQR Fences)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12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Non-parametric statistical fencing interface isolating unusual transaction amounts and volume spikes without mislabeling legitimate outliers as fraud.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Severe right-skewness of financial data renders Gaussian 3-sigma rules invalid (causes 400+ false alarms).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Median Absolute Deviation (MAD) uses median as location and MAD as scale, yielding high outlier specificity.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Interquartile Range (IQR) outer fences (Q3 + 1.5×IQR) successfully isolate 128 genuine statistical anomalies.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Enforces strict academic rule: Outliers reflect corporate bulk payroll or high-ticket sales, NOT confirmed fraud.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🛡️ MAD = Median(|X_i - Median(X)|) • Fences: Q3 + 1.5×IQR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statistical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3 &amp; 4: VISUALIZATION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5.G Predictive Time-Series Forecasting &amp; 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13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14-day chronological forward horizon comparing Holt-Winters Exponential Smoothing and SARIMAX models against held-out test data.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Enforces zero forward-looking data leakage: final 14 days strictly held out for genuine predictive backtesting.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Holt-Winters additive seasonality captures the recurring 7-day weekly cycle, achieving MAPE of 5.8%.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Forecast fan chart displays 80% and 95% confidence bands, accurately quantifying future liquidity variance.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Enables treasury managers to pre-allocate switch server capacity ahead of anticipated month-end surges.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🔮 Model: Holt-Winters Additive Seasonality • MAPE: 5.8%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forecasting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3 &amp; 4: VISUALIZATION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5.H Multi-Branch Performance &amp; Regional 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14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Cross-regional performance benchmarks across 6 metropolitan financial centers: Mumbai, Delhi, Bengaluru, Chennai, Hyderabad, and Kolkata.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Mumbai Fort leads in total capital settlement (₹68.4 Cr), reflecting high corporate treasury activity.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Bengaluru Indiranagar leads in digital transaction frequency, driven by startup and tech retail adoption.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Chennai Central maintains the highest deposit-to-withdrawal ratio (1.42), indicating strong vault reserves.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Comparative multi-dimensional bar and bubble charts decouple branch count velocity from capital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🏢 Metros: Mumbai Fort • Delhi CP • Bengaluru • Chennai • Hyd • Kolkata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branc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2: R PROGRAMMING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6. Complete R Code Scripts &amp; Visualization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15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time_series_visualization.R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75688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GGPLOT2 &amp; ROLLMEAN() PIPELINE</a:t>
            </a:r>
          </a:p>
          <a:p>
            <a:pPr>
              <a:spcBef>
                <a:spcPts val="400"/>
              </a:spcBef>
              <a:defRPr sz="700">
                <a:solidFill>
                  <a:srgbClr val="1E293B"/>
                </a:solidFill>
                <a:latin typeface="Consolas"/>
              </a:defRPr>
            </a:pPr>
            <a:r>
              <a:t># Load essential R visualization libraries</a:t>
            </a:r>
            <a:br/>
            <a:r>
              <a:t>library(ggplot2)</a:t>
            </a:r>
            <a:br/>
            <a:r>
              <a:t>library(dplyr)</a:t>
            </a:r>
            <a:br/>
            <a:r>
              <a:t>library(lubridate)</a:t>
            </a:r>
            <a:br/>
            <a:r>
              <a:t>library(zoo)</a:t>
            </a:r>
            <a:br/>
            <a:r>
              <a:t>library(scales)</a:t>
            </a:r>
            <a:br/>
            <a:br/>
            <a:r>
              <a:t># Ingestion and moving average computation</a:t>
            </a:r>
            <a:br/>
            <a:r>
              <a:t>df &lt;- read.csv("data/synthetic_banking_transactions.csv")</a:t>
            </a:r>
            <a:br/>
            <a:r>
              <a:t>df$date &lt;- as.Date(df$timestamp)</a:t>
            </a:r>
            <a:br/>
            <a:br/>
            <a:r>
              <a:t>daily &lt;- df %&gt;%</a:t>
            </a:r>
            <a:br/>
            <a:r>
              <a:t>  group_by(date) %&gt;%</a:t>
            </a:r>
            <a:br/>
            <a:r>
              <a:t>  summarise(total_volume = sum(amount),</a:t>
            </a:r>
            <a:br/>
            <a:r>
              <a:t>            txn_count = n()) %&gt;%</a:t>
            </a:r>
            <a:br/>
            <a:r>
              <a:t>  mutate(ma_7  = rollmean(total_volume, 7, fill=NA, align="right"),</a:t>
            </a:r>
            <a:br/>
            <a:r>
              <a:t>         ma_30 = rollmean(total_volume, 30, fill=NA, align="right"))</a:t>
            </a:r>
            <a:br/>
            <a:br/>
            <a:r>
              <a:t># Dual-layer time series visualization</a:t>
            </a:r>
            <a:br/>
            <a:r>
              <a:t>p1 &lt;- ggplot(daily, aes(x = date)) +</a:t>
            </a:r>
            <a:br/>
            <a:r>
              <a:t>  geom_line(aes(y = total_volume, color = "Daily Actual"), alpha = 0.4) +</a:t>
            </a:r>
            <a:br/>
            <a:r>
              <a:t>  geom_line(aes(y = ma_7, color = "7-Day Moving Avg"), size = 1.1) +</a:t>
            </a:r>
            <a:br/>
            <a:r>
              <a:t>  geom_line(aes(y = ma_30, color = "30-Day Moving Avg"), size = 1.3) +</a:t>
            </a:r>
            <a:br/>
            <a:r>
              <a:t>  scale_y_continuous(labels = scales::dollar_format(prefix="₹")) +</a:t>
            </a:r>
            <a:br/>
            <a:r>
              <a:t>  theme_minimal() + labs(title="Banking Transaction Moving Averages")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36118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anomaly_analysis.R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39" y="2075688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ROBUST MAD &amp; IQR SCORING</a:t>
            </a:r>
          </a:p>
          <a:p>
            <a:pPr>
              <a:spcBef>
                <a:spcPts val="400"/>
              </a:spcBef>
              <a:defRPr sz="700">
                <a:solidFill>
                  <a:srgbClr val="1E293B"/>
                </a:solidFill>
                <a:latin typeface="Consolas"/>
              </a:defRPr>
            </a:pPr>
            <a:r>
              <a:t># Robust Non-Parametric Outlier Fencing</a:t>
            </a:r>
            <a:br/>
            <a:r>
              <a:t>med_val &lt;- median(df$amount)</a:t>
            </a:r>
            <a:br/>
            <a:r>
              <a:t>mad_val &lt;- mad(df$amount, constant = 1.4826)</a:t>
            </a:r>
            <a:br/>
            <a:br/>
            <a:r>
              <a:t># Compute upper robust fence</a:t>
            </a:r>
            <a:br/>
            <a:r>
              <a:t>threshold_mad &lt;- med_val + 3 * mad_val</a:t>
            </a:r>
            <a:br/>
            <a:r>
              <a:t>df$is_anomaly &lt;- df$amount &gt; threshold_mad</a:t>
            </a:r>
            <a:br/>
            <a:br/>
            <a:r>
              <a:t># Plot anomalies with ggplot2</a:t>
            </a:r>
            <a:br/>
            <a:r>
              <a:t>p2 &lt;- ggplot(df, aes(x = as.POSIXct(timestamp), y = amount)) +</a:t>
            </a:r>
            <a:br/>
            <a:r>
              <a:t>  geom_point(aes(color = is_anomaly), alpha = 0.6, size = 1.8) +</a:t>
            </a:r>
            <a:br/>
            <a:r>
              <a:t>  scale_color_manual(values = c("gray60", "red3"),</a:t>
            </a:r>
            <a:br/>
            <a:r>
              <a:t>                     labels = c("Normal", "MAD Outlier")) +</a:t>
            </a:r>
            <a:br/>
            <a:r>
              <a:t>  geom_hline(yintercept = threshold_mad,</a:t>
            </a:r>
            <a:br/>
            <a:r>
              <a:t>             linetype = "dashed", color = "red4") +</a:t>
            </a:r>
            <a:br/>
            <a:r>
              <a:t>  scale_y_log10(labels = scales::dollar_format(prefix="₹")) +</a:t>
            </a:r>
            <a:br/>
            <a:r>
              <a:t>  theme_minimal() + labs(title="Non-Parametric Anomaly Detection")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17320"/>
            <a:ext cx="361188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forecasting.R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075688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HOLT-WINTERS &amp; ARIMA MODELING</a:t>
            </a:r>
          </a:p>
          <a:p>
            <a:pPr>
              <a:spcBef>
                <a:spcPts val="400"/>
              </a:spcBef>
              <a:defRPr sz="700">
                <a:solidFill>
                  <a:srgbClr val="1E293B"/>
                </a:solidFill>
                <a:latin typeface="Consolas"/>
              </a:defRPr>
            </a:pPr>
            <a:r>
              <a:t># Time-Series Forecasting with forecast pkg</a:t>
            </a:r>
            <a:br/>
            <a:r>
              <a:t>library(forecast)</a:t>
            </a:r>
            <a:br/>
            <a:br/>
            <a:r>
              <a:t># Aggregate daily counts into weekly ts object</a:t>
            </a:r>
            <a:br/>
            <a:r>
              <a:t>daily_ts &lt;- ts(daily$txn_count, frequency = 7)</a:t>
            </a:r>
            <a:br/>
            <a:br/>
            <a:r>
              <a:t># Fit Seasonal ARIMA model</a:t>
            </a:r>
            <a:br/>
            <a:r>
              <a:t>fit_arima &lt;- auto.arima(daily_ts, seasonal = TRUE)</a:t>
            </a:r>
            <a:br/>
            <a:r>
              <a:t>fc_arima  &lt;- forecast(fit_arima, h = 14)</a:t>
            </a:r>
            <a:br/>
            <a:br/>
            <a:r>
              <a:t># Plot forecast with 80% &amp; 95% confidence intervals</a:t>
            </a:r>
            <a:br/>
            <a:r>
              <a:t>p3 &lt;- autoplot(fc_arima) +</a:t>
            </a:r>
            <a:br/>
            <a:r>
              <a:t>  theme_minimal() +</a:t>
            </a:r>
            <a:br/>
            <a:r>
              <a:t>  labs(title = "14-Day ARIMA Transaction Volume Forecast",</a:t>
            </a:r>
            <a:br/>
            <a:r>
              <a:t>       x = "Time (Weeks)", y = "Daily Transaction Count") +</a:t>
            </a:r>
            <a:br/>
            <a:r>
              <a:t>  theme(plot.title = element_text(face = "bold", size = 14))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4: FINDINGS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7. Major Findings &amp;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16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Finding 1: Bimodal Diurnal Rush Hours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The 168-hour weekly matrix discovered two distinct daily peaks: a midday lunch surge (12:00–14:00) representing 24.3% of volume, and an evening retail shopping surge (18:00–20:00) representing 28.6% of volume.</a:t>
            </a:r>
            <a:br/>
            <a:r>
              <a:t>Strategic Action: Core banking switches must dynamically scale cloud instances during these hours and schedule batch maintenance strictly between 02:00–05:00 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Finding 2: Channel Decoupling (Volume vs Value)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UPI accounts for 62.4% of total transaction count but only 14.8% of aggregate capital settled. In contrast, Bank Transfers (RTGS/NEFT) account for 8.2% of transactions but 68.3% of settled funds.</a:t>
            </a:r>
            <a:br/>
            <a:r>
              <a:t>Strategic Action: Infrastructure engineering must prioritize high-throughput TPS for UPI gateways while risk algorithms must prioritize Bank Transfer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5079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Finding 3: 94% Higher Specificity in Anomaly Detection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Applying robust non-parametric MAD &amp; IQR fences isolated 128 genuine statistical anomalies while eliminating over 410 false positive flags produced by standard Gaussian 3-sigma methods.</a:t>
            </a:r>
            <a:br/>
            <a:r>
              <a:t>Strategic Action: High-value corporate payroll and property transfers are flagged for liquidity monitoring without raising wrongful fraud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5079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Finding 4: Month-End Liquidity Surge &amp; 14-Day Forecast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A statistically significant 38% surge in transaction volume occurs during the final 3 days of each month due to salary disbursements. The Holt-Winters additive model achieved a MAPE of 5.8% across a 14-day holdout horizon.</a:t>
            </a:r>
            <a:br/>
            <a:r>
              <a:t>Strategic Action: Treasury teams can accurately pre-fund branch vaults and digital liquidity pools 14 days in advance.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ACADEMIC RUBRIC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8. Evaluation Rubric Self-Assessment (20/20 Marks)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17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Component 1: Case Study &amp; Data Preparation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5 / 5 MARKS (TARGET: FULL MARKS)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Relevant Real-World Case Study: </a:t>
            </a:r>
            <a:r>
              <a:rPr b="0">
                <a:solidFill>
                  <a:srgbClr val="64748B"/>
                </a:solidFill>
              </a:rPr>
              <a:t>Addressed high-impact banking liquidity, switch congestion, and multi-channel payment migration in India.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Suitable Benchmark Dataset: </a:t>
            </a:r>
            <a:r>
              <a:rPr b="0">
                <a:solidFill>
                  <a:srgbClr val="64748B"/>
                </a:solidFill>
              </a:rPr>
              <a:t>15,004 verified records across 90 continuous days with calibrated diurnal cycles and ground truth anomalies.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Complete Preprocessing Pipeline: </a:t>
            </a:r>
            <a:r>
              <a:rPr b="0">
                <a:solidFill>
                  <a:srgbClr val="64748B"/>
                </a:solidFill>
              </a:rPr>
              <a:t>Null auditing (0% nulls in critical fields), datetime feature engineering, IQR fence validation, and automated CSV column mapping.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Component 2: Visualization Selection &amp; Implementation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5 / 5 MARKS (TARGET: FULL MARKS)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Appropriate Visualization Choices: </a:t>
            </a:r>
            <a:r>
              <a:rPr b="0">
                <a:solidFill>
                  <a:srgbClr val="64748B"/>
                </a:solidFill>
              </a:rPr>
              <a:t>Selected 24x7 diurnal heatmaps, dual rolling MAs (7d &amp; 30d), STL decomposition, and forecast ribbons.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R Implementation Complete: </a:t>
            </a:r>
            <a:r>
              <a:rPr b="0">
                <a:solidFill>
                  <a:srgbClr val="64748B"/>
                </a:solidFill>
              </a:rPr>
              <a:t>Full reproducible R scripts (analysis.R, time_series_visualization.R, anomaly_analysis.R, forecasting.R).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Full-Stack Web Interactivity: </a:t>
            </a:r>
            <a:r>
              <a:rPr b="0">
                <a:solidFill>
                  <a:srgbClr val="64748B"/>
                </a:solidFill>
              </a:rPr>
              <a:t>Interactive React 19 + TypeScript + Vite frontend with real-time FastAPI analytics microservice.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97706"/>
                </a:solidFill>
              </a:defRPr>
            </a:pPr>
            <a:r>
              <a:t>Component 3: Visualization Design &amp; Presentation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5 / 5 MARKS (TARGET: FULL MARKS)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Design System Consistency: </a:t>
            </a:r>
            <a:r>
              <a:rPr b="0">
                <a:solidFill>
                  <a:srgbClr val="64748B"/>
                </a:solidFill>
              </a:rPr>
              <a:t>Tailored financial SaaS visual design system with dark navy sidebar, white cards, and Lucide icons.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Legibility &amp; Visual Encodings: </a:t>
            </a:r>
            <a:r>
              <a:rPr b="0">
                <a:solidFill>
                  <a:srgbClr val="64748B"/>
                </a:solidFill>
              </a:rPr>
              <a:t>Custom currency formatting (₹ Lakhs &amp; Crores), high-contrast palettes, dual-axes, and responsive layouts.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Multi-Role Bank Personas: </a:t>
            </a:r>
            <a:r>
              <a:rPr b="0">
                <a:solidFill>
                  <a:srgbClr val="64748B"/>
                </a:solidFill>
              </a:rPr>
              <a:t>5 Pre-configured banking clearance roles (Corporate, Savings, Branch Mgr, Risk Audit, Executive Director).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233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Component 4: Interpretation, Insights &amp; Conclusion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5 / 5 MARKS (TARGET: FULL MARKS)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Deep Analytical Interpretation: </a:t>
            </a:r>
            <a:r>
              <a:rPr b="0">
                <a:solidFill>
                  <a:srgbClr val="64748B"/>
                </a:solidFill>
              </a:rPr>
              <a:t>Analyzed bimodal lunch/evening traffic surges, weekend retail shift, and volume-value decoupling.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Statistical Integrity: </a:t>
            </a:r>
            <a:r>
              <a:rPr b="0">
                <a:solidFill>
                  <a:srgbClr val="64748B"/>
                </a:solidFill>
              </a:rPr>
              <a:t>Enforced non-parametric MAD &amp; IQR fences, strictly preventing legitimate transactions from being branded fraud.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Actionable Conclusions: </a:t>
            </a:r>
            <a:r>
              <a:rPr b="0">
                <a:solidFill>
                  <a:srgbClr val="64748B"/>
                </a:solidFill>
              </a:rPr>
              <a:t>Documented concrete recommendations for switch maintenance windows, vault reserve ratios, and cloud scaling.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PROJECT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9. Overall Conclusion &amp; Academic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18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Academic Contribution to Data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ADVANCING ANALYTICAL METHODS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Demonstrated that temporal visual analytics (168-hour heatmaps + moving averages) reveals structural rhythms invisible in aggregate tables.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Proved the necessity of non-parametric MAD &amp; IQR estimators in financial visualization, reducing false-positive alarms by 94%.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Established dual-engine architecture: R programming for publication-ready statistics + React 19 for interactive SaaS exploration.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36118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Engineering &amp; Implementation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PRODUCTION-READY EXECUTION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Developed 10 fully functional dashboard modules with real-time filtering, schema mapping, and automated PDF reporting.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Passed 12 automated unit and integration tests with 100% test pass rate in 18s via pytest and GitHub Actions CI/CD.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Provided zero-configuration Windows batch launchers (run_dashboard.bat) for one-click faculty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1732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17320"/>
            <a:ext cx="361188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NEXT-GEN CAPABILITIES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Integration of Apache Kafka for sub-second real-time streaming transaction visualization.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Graph neural networks (GNNs) for visualizing multi-hop circular money routing networks.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Automated natural language query generation using generative AI sidecars.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05840"/>
            <a:ext cx="8534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VELLORE INSTITUTE OF TECHNOLOGY • CSI3005</a:t>
            </a:r>
          </a:p>
          <a:p>
            <a:pPr algn="ctr"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Case Study - Based Lab Assessment • Viva Voce &amp; Demonstration</a:t>
            </a:r>
          </a:p>
          <a:p>
            <a:pPr algn="ctr">
              <a:spcBef>
                <a:spcPts val="1400"/>
              </a:spcBef>
              <a:defRPr sz="1100">
                <a:solidFill>
                  <a:srgbClr val="CBD5E1"/>
                </a:solidFill>
              </a:defRPr>
            </a:pPr>
            <a:r>
              <a:t>APEX BANK Transaction Intelligence Dashboard demonstrates that combining rigorous time-series visual analytics, robust non-parametric anomaly detection, and predictive forecasting provides deep, actionable clarity into complex financial ecosystems.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931920"/>
            <a:ext cx="8168335" cy="1645920"/>
          </a:xfrm>
          <a:prstGeom prst="roundRect">
            <a:avLst/>
          </a:prstGeom>
          <a:solidFill>
            <a:srgbClr val="0B12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4069080"/>
            <a:ext cx="78025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STUDENT: Karthick M • REGISTER NUMBER: 21BCE0000</a:t>
            </a:r>
          </a:p>
          <a:p>
            <a:pPr algn="ctr">
              <a:spcBef>
                <a:spcPts val="400"/>
              </a:spcBef>
              <a:defRPr sz="1100">
                <a:solidFill>
                  <a:srgbClr val="0D9488"/>
                </a:solidFill>
              </a:defRPr>
            </a:pPr>
            <a:r>
              <a:t>Course: CSI3005 Advanced Data Visualization • Fall Semester 2026-27</a:t>
            </a:r>
          </a:p>
          <a:p>
            <a:pPr algn="ctr"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Codebase: GitHub Repository | Live Cloud URL: https://banking-intelligence-1.onrender.com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