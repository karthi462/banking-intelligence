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914400"/>
            <a:ext cx="4389120" cy="4114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4D399"/>
                </a:solidFill>
              </a:defRPr>
            </a:pPr>
            <a:r>
              <a:t>★ ADVANCED DATA VISUALIZATION (ADVT)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Banking Transaction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Advanced Time-Series Financial Analytics, Non-Parametric Anomaly Detection &amp; Predictive Multi-Channel Forecasting Using R, Python (FastAPI), and React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657600"/>
            <a:ext cx="9784080" cy="2194560"/>
          </a:xfrm>
          <a:prstGeom prst="roundRect">
            <a:avLst/>
          </a:prstGeom>
          <a:solidFill>
            <a:srgbClr val="0B12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CANDIDATE DETAILS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Student Name: </a:t>
            </a:r>
            <a:r>
              <a:rPr b="0">
                <a:solidFill>
                  <a:srgbClr val="CBD5E1"/>
                </a:solidFill>
              </a:rPr>
              <a:t>Karthick M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Register Number: </a:t>
            </a:r>
            <a:r>
              <a:rPr b="0">
                <a:solidFill>
                  <a:srgbClr val="CBD5E1"/>
                </a:solidFill>
              </a:rPr>
              <a:t>21BCE0000 / [Your Reg No]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Degree &amp; Branch: </a:t>
            </a:r>
            <a:r>
              <a:rPr b="0">
                <a:solidFill>
                  <a:srgbClr val="CBD5E1"/>
                </a:solidFill>
              </a:rPr>
              <a:t>B.Tech Computer Science &amp; Engg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COURSE &amp; INSTITUTION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Course Name: </a:t>
            </a:r>
            <a:r>
              <a:rPr b="0">
                <a:solidFill>
                  <a:srgbClr val="CBD5E1"/>
                </a:solidFill>
              </a:rPr>
              <a:t>Advanced Data Visualization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Course Code: </a:t>
            </a:r>
            <a:r>
              <a:rPr b="0">
                <a:solidFill>
                  <a:srgbClr val="CBD5E1"/>
                </a:solidFill>
              </a:rPr>
              <a:t>CSE / ADVT Capstone Project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Institution: </a:t>
            </a:r>
            <a:r>
              <a:rPr b="0">
                <a:solidFill>
                  <a:srgbClr val="CBD5E1"/>
                </a:solidFill>
              </a:rPr>
              <a:t>School of Computer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TECHNOLOGY STACK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Frontend UI: </a:t>
            </a:r>
            <a:r>
              <a:rPr b="0">
                <a:solidFill>
                  <a:srgbClr val="CBD5E1"/>
                </a:solidFill>
              </a:rPr>
              <a:t>React 19, TypeScript, Vite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Backend Engine: </a:t>
            </a:r>
            <a:r>
              <a:rPr b="0">
                <a:solidFill>
                  <a:srgbClr val="CBD5E1"/>
                </a:solidFill>
              </a:rPr>
              <a:t>FastAPI, Pandas, Statsmodels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 Analytics: </a:t>
            </a:r>
            <a:r>
              <a:rPr b="0">
                <a:solidFill>
                  <a:srgbClr val="CBD5E1"/>
                </a:solidFill>
              </a:rPr>
              <a:t>ggplot2, forecast, plotly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Table of Contents &amp; Project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5544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Project Motivation &amp; Objectives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Financial trends, transaction surges &amp; anomaly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60604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5603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System Architecture &amp; Tech Stack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Modern 3-tier design: React 19, FastAPI, &amp; R analytical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61188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 Schema &amp; Quality Audit Engine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15,004 verified records, diurnal curves &amp; null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61772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5720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Welcome Portal &amp; Bank Personas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Multi-role clearance: Corporate, Savings, Audit, Executive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562356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5778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Dashboard Home &amp; Financial KPIs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Live KPI cards, volume progression &amp; Indian numbering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14630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7407" y="160020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1" y="15544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Moving Average Trends &amp; Smoothing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7-day &amp; 30-day rolling filters, cumulative trajectories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468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07407" y="260604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1" y="25603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24x7 Diurnal &amp; Peak Hour Heatmaps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Hour-of-day vs Day-of-week matrix, lunch/evening surges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4747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07407" y="361188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1" y="35661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Payment Channel Analytics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UPI, ATM, Debit, Credit &amp; Transfers volume &amp; failure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480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07407" y="461772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1" y="45720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Statistical Anomaly Detection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Non-parametric MAD &amp; IQR fences without mislabeling fraud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54864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07407" y="562356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1" y="55778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Predictive Time-Series Forecasting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14-day Holt-Winters &amp; SARIMAX chronological backtesting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146304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7" y="160020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1" y="155448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Multi-Branch Operations &amp; Metros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6 Metro centers benchmarked across ticket sizes &amp; volume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246888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7" y="260604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1" y="256032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Dataset Explorer &amp; CSV Ingestion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Interactive drag-and-drop ingestion &amp; schema mapping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347472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56447" y="361188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1" y="35661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Executive PDF &amp; CSV Export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ReportLab automated reports &amp; raw data filter exports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9" y="4480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56447" y="4617720"/>
            <a:ext cx="438912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1" y="457200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Academic R Programming Suite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ggplot2, forecast, and seasonal STL decomposition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548640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56447" y="5623560"/>
            <a:ext cx="438912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8511" y="557784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Deployment, CI/CD &amp; Conclusion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Render, Docker, GitHub Actions &amp; academic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RESEARCH &amp; ANALYTICAL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Project Motivation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Modern Banking Surge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EXPONENTIAL VOLUME &amp; CHANNEL VELOCITY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Over 80% of routine retail transactions in India happen through UPI &amp; mobile gateways.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High transaction velocity creates severe server switch strain during 12–2 PM lunch &amp; 6–8 PM evening peak.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Conventional static dashboards fail to capture diurnal intra-day surges and intra-week rhythm.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Need for advanced temporal heatmaps and moving average smoothing filters to reveal systemic liquidity.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Fraud vs Anomaly Dilemma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9456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RESPONSIBLE NON-PARAMETRIC RISK SCORING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High-value transfers (e.g. corporate salary disbursal, property advance) are often falsely flagged as fraud.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Financial data exhibits severe right-skewness and fat-tailed distributions, breaking normal distribution assumptions.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Project enforces robust Median Absolute Deviation (MAD) &amp; Interquartile Range (IQR) fences.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Strict academic principle: Distinguish statistical outliers from confirmed fraud without prejudice.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6118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Academic Deliverables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9456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END-TO-END ADVANCED DATA VISUALIZATION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Demonstrate rigorous time-series methodologies: 7d/30d Rolling MA, STL decomposition, Holt-Winters.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Dual-engine architecture: Python FastAPI for web interactivity + R (ggplot2, forecast) for statistical papers.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Enterprise persona authentication allowing role-based access for Corporate, Branch, Audit &amp; Executive.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Production-ready deployment via Docker, GitHub Actions CI/CD, and Render cloud web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Enterprise System Architecture &amp; Multi-Tier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1: FRONTEND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REACT 19 &amp; TYPESCRIPT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React 19 &amp; Vite 8: </a:t>
            </a:r>
            <a:r>
              <a:rPr b="0">
                <a:solidFill>
                  <a:srgbClr val="64748B"/>
                </a:solidFill>
              </a:rPr>
              <a:t>Next-gen lightning bundler with instant HMR and optimized tree-shaking.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Tailwind CSS v4 &amp; Lucide: </a:t>
            </a:r>
            <a:r>
              <a:rPr b="0">
                <a:solidFill>
                  <a:srgbClr val="64748B"/>
                </a:solidFill>
              </a:rPr>
              <a:t>Precision design system with custom financial SaaS tokens and icons.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Recharts &amp; Plotly.js: </a:t>
            </a:r>
            <a:r>
              <a:rPr b="0">
                <a:solidFill>
                  <a:srgbClr val="64748B"/>
                </a:solidFill>
              </a:rPr>
              <a:t>Interactive SVG/Canvas time-series charts, dual axes, and tooltips.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React Router v7: </a:t>
            </a:r>
            <a:r>
              <a:rPr b="0">
                <a:solidFill>
                  <a:srgbClr val="64748B"/>
                </a:solidFill>
              </a:rPr>
              <a:t>Single Page Application client-side routing with deep link fallback.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Auth &amp; Filter Contexts: </a:t>
            </a:r>
            <a:r>
              <a:rPr b="0">
                <a:solidFill>
                  <a:srgbClr val="64748B"/>
                </a:solidFill>
              </a:rPr>
              <a:t>Reactive multi-role persona switcher and synchronized global filter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2: ANALYTICS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FASTAPI &amp; PYTHON 3.14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FastAPI Async REST API: </a:t>
            </a:r>
            <a:r>
              <a:rPr b="0">
                <a:solidFill>
                  <a:srgbClr val="64748B"/>
                </a:solidFill>
              </a:rPr>
              <a:t>High-throughput asynchronous ASGI microservice with automatic OpenAPI docs.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Pandas &amp; NumPy: </a:t>
            </a:r>
            <a:r>
              <a:rPr b="0">
                <a:solidFill>
                  <a:srgbClr val="64748B"/>
                </a:solidFill>
              </a:rPr>
              <a:t>Vectorized time-series aggregation, rolling window rolling(), and resampling.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Statsmodels &amp; SciPy: </a:t>
            </a:r>
            <a:r>
              <a:rPr b="0">
                <a:solidFill>
                  <a:srgbClr val="64748B"/>
                </a:solidFill>
              </a:rPr>
              <a:t>Holt-Winters exponential smoothing, seasonal decompose(), and MAD fences.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ReportLab Engine: </a:t>
            </a:r>
            <a:r>
              <a:rPr b="0">
                <a:solidFill>
                  <a:srgbClr val="64748B"/>
                </a:solidFill>
              </a:rPr>
              <a:t>Dynamic server-side PDF generator producing executive multi-page reports.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Dataset Quality Service: </a:t>
            </a:r>
            <a:r>
              <a:rPr b="0">
                <a:solidFill>
                  <a:srgbClr val="64748B"/>
                </a:solidFill>
              </a:rPr>
              <a:t>Automated CSV ingestion, column mapping, fence checks, and rejection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6118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3: R &amp;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R STATISTICAL SUITE &amp; DEVOPS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R Programming Scripts: </a:t>
            </a:r>
            <a:r>
              <a:rPr b="0">
                <a:solidFill>
                  <a:srgbClr val="64748B"/>
                </a:solidFill>
              </a:rPr>
              <a:t>Independent statistical visualization pipeline using ggplot2, plotly, and zoo.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Forecast &amp; Lubridate: </a:t>
            </a:r>
            <a:r>
              <a:rPr b="0">
                <a:solidFill>
                  <a:srgbClr val="64748B"/>
                </a:solidFill>
              </a:rPr>
              <a:t>ARIMA and ETS modeling with seasonal frequency decomposition.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Docker &amp; Compose: </a:t>
            </a:r>
            <a:r>
              <a:rPr b="0">
                <a:solidFill>
                  <a:srgbClr val="64748B"/>
                </a:solidFill>
              </a:rPr>
              <a:t>Multi-stage alpine/slim containerization for reproducible deployments.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GitHub Actions CI/CD: </a:t>
            </a:r>
            <a:r>
              <a:rPr b="0">
                <a:solidFill>
                  <a:srgbClr val="64748B"/>
                </a:solidFill>
              </a:rPr>
              <a:t>Automated GitHub workflow verifying 12 unit tests and Vite build.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Cloud Hosting (Render): </a:t>
            </a:r>
            <a:r>
              <a:rPr b="0">
                <a:solidFill>
                  <a:srgbClr val="64748B"/>
                </a:solidFill>
              </a:rPr>
              <a:t>Unified production deployment with static assets served via ASGI.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IDENTITY &amp; ACCESS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Interactive Welcome Portal &amp; Bank Account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Role-Based Financial Clearance &amp; Interactive Landing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5 Pre-Configured Banking Personas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Rajesh Sharma (Corporate Current Account), Priya Sundaram (Retail Savings), Ananya Roy (Branch Manager), Vikramaditya Rao (Risk Audit), Shashi Nair (Executive).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Live Financial Ticker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Displays dynamic aggregate metrics: ₹248.5 Cr volume, 15,004 verified records, 93.8% gateway velocity, and 6 regional hubs.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One-Click Context Auto-Filtering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Selecting an account dynamically binds branch and account-type filters across all backend analytical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⚡ Authentication: JWT/Session Persona Scopes • Route: /welcome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welcome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CORE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Dashboard Overview &amp; Real-Time Financial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Executive High-Level Cockpit &amp; Live Operations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6 Core Financial KPI Cards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Total Transactions, Total Gross Value, Average Ticket Size, Success Velocity (93.8%), Failed Txn Count, and Flagged Anomalies.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Indian Currency Formatting Conventions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Dynamic formatting converting values into ₹ Lakhs and ₹ Crores with localized commas.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Period-Over-Period Comparison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Calculates mathematically valid percentage changes against previous equivalent time windows with zero extrapolation.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Recent Transactions Ledger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Searchable, sortable real-time table displaying timestamp, branch, payment mode, and anomaly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📊 KPI Formula: Velocity = (Txn_Success / Txn_Total) ×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TIME-SERIES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Transaction Trends &amp; Dual Moving Average Smoothing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Isolating Macroeconomic Momentum from Daily Noise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Dual Moving Average Filters (7d &amp; 30d)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7-day rolling window isolates intra-week day-of-week noise; 30-day window reveals quarterly macroeconomic liquidity expansion.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Deposit vs Withdrawal Comparison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Comparative area curves monitoring liquidity inflows against outflow velocity to detect net capital drain.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Cumulative Liquidity Curve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Running cumulative sum over the filtered date range showing liquidity accumulation trajectory over 90 days.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Configurable Aggregation Granularity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Instant toggle between Daily, Weekly, and Monthly resampling without data truncation.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📈 Rolling Formula: MA_k(t) = (1/k) ∑_{i=0}^{k-1} Txn(t - 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ransac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DIURNAL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Temporal Heatmaps &amp; 24x7 Rush Hour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08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168-Hour Weekly Matrix of Core Banking Velocity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24x7 Hour × Day Heatmap Matrix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Maps all 168 weekly hourly bins to identify peak server load: detects 12–2 PM lunch peak and 6–8 PM evening retail shopping surges.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Day-of-Week Liquidity Comparison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Discloses weekday enterprise settlement patterns versus weekend retail micro-transaction surges.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Calendar-Style Month View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Color-intensity calendar visualization revealing month-end salary disbursals and quarter-end corporate tax settlements.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Time-Series Decomposition (STL)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Additive/multiplicative decomposition separating Observed = Trend + Seasonal (Diurnal) + Residual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⏰ Matrix Dimensions: 24 Hours × 7 Days = 168 Discrete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time_analysis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MULTI-CHANNEL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Payment Channel Analytics &amp; Gateway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09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Evaluating UPI, ATM, Cards &amp; Bank Transfer Behavior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Channel Volume &amp; Value Share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Analyzes payment modes: UPI dominates transaction count (62%), while RTGS/NEFT Bank Transfers represent the highest aggregate capital value.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Gateway Failure Velocity Analysis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Monitors payment clearance rates to detect gateway timeouts, switch outages, and server drops by payment type.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Average Ticket Size per Mode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Demonstrates micro-payments on UPI (avg ₹1,400) versus institutional settlement via Bank Transfer (avg ₹1,85,000).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Temporal Channel Migration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Evaluates historical shift from physical ATM cash withdrawals to contactless UPI payments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💳 Modes Evaluated: UPI • ATM • Debit Card • Credit Card •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aym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RISK &amp; COMPLIANCE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Statistical Anomaly Detection (MAD &amp; IQR Fences)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Robust Non-Parametric Outlier Scoring Without Bias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Fat-Tailed Financial Distribution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Banking amounts exhibit extreme positive skewness; Gaussian 3-sigma rules fail by generating hundreds of false positives.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Median Absolute Deviation (MAD)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Uses the median as the central location estimator and MAD as the scale estimator, making it resilient to massive outlier spikes.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Interquartile Range (IQR) Outer Fences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Flags data points outside Q1 - 1.5×IQR and Q3 + 1.5×IQR with custom sensitivity sliders.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Strict Academic Rule: Outlier ≠ Fraud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Explains that high-value transactions (corporate treasury, real estate) are statistical anomalies but legitimate business.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🛡️ Robust Scoring: MAD = Median(|X_i - Median(X)|) • Fences: 1.5×IQR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statistical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MACHINE LEARNING &amp; ECONOMETRICS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Predictive Time-Series Forecasting &amp;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14-Day Forward Horizon with Chronological Backtesting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Holt-Winters Exponential Smoothing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Captures baseline level, linear trend progression, and weekly 7-day diurnal seasonality simultaneously.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SARIMAX Autoregressive Modeling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Applies seasonal differencing (p,d,q)(P,D,Q)s to model autocorrelated transaction velocity.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Zero Forward-Looking Data Leakage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Strict chronological train/test split holding out the final 14 days to benchmark genuine predictive validity.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Accuracy Metrics (MAPE &amp; RMSE)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Quantitative validation reporting Mean Absolute Percentage Error (MAPE &lt; 6.8%) and 95% Confidence Intervals.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🔮 Model: Holt-Winters Additive Seasonality • Horizon: 14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forecastin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GEOGRAPHIC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Multi-Branch Performance &amp; Regional 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Cross-Regional Performance Across 6 Commercial Hubs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6 Strategic Metropolitan Hubs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Mumbai Fort (Financial Capital), Delhi Connaught Place (North), Bengaluru Indiranagar (Tech Hub), Chennai Central (South), Hyderabad, and Kolkata.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Volume vs Value Decoupling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Mumbai Fort exhibits largest aggregate capital value; Bengaluru leads in UPI velocity and digital channel adoption.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Deposit-to-Withdrawal Liquidity Ratio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Monitors branch reserve health to ensure branches maintain adequate physical and digital vault liquidity.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Comparative Bar &amp; Bubble Visualizations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Multi-dimensional ranking across total volume, transaction counts, and average ticket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🏢 Hubs: Mumbai Fort • Delhi CP • Bengaluru • Chennai • Hyd • Kolkata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bran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DATA 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Dataset Explorer &amp; Dynamic Schema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Self-Healing Data Ingestion &amp; Integrity Audits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Drag-and-Drop CSV Ingestion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Upload any external real-world banking dataset; the engine automatically audits column data types and null frequencies.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Interactive Column Mapper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Maps arbitrary uploaded column headers (e.g., 'txn_date', 'amt', 'channel') to the standardized analytical schema.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Rejection &amp; Cleanliness Log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Detects and quarantines corrupted rows (e.g., negative amounts, future timestamps, unparseable dates).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15,004 Calibrated Benchmark Records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Includes realistic pre-loaded benchmark transactions with calibrated seasonal cycles and ground-truth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📂 Quality Audit: Null Check • Range Fence • Date Validation • Schema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dataset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AUTOMATED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Executive PDF &amp; CSV Automated Export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Publication-Ready Financial Audits &amp; Filtered CSVs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Server-Side PDF Generation (ReportLab)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Generates a multi-page, formatted corporate executive summary with KPI cards, trend summaries, and branch breakdowns.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Context-Aware Raw CSV Data Export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Exports filtered dataset slice with exact filter parameters applied (dates, branches, payment modes).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Data Dictionary &amp; Regulatory Metadata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Includes complete statistical fences, column definitions, and calculation methodologies for compliance audit.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One-Click Download Action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Instant asynchronous export stream directly downloadable from browser without page reload.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📑 Output Formats: Executive PDF Report • Raw Analytical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reports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R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Academic R Programming &amp; Statistical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time_series_visualization.R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GGPLOT2 &amp; PLOTLY TIME-SERIES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Generates dual-axis line charts comparing daily transaction counts against gross monetary volume.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Implements rollmean() from the 'zoo' package to plot 7-day and 30-day moving averages.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Decomposes time series using STL (Seasonal and Trend decomposition using Loess).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Formats currency with scales::dollar_format() and customized Indian Rupee tick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anomaly_analysis.R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NON-PARAMETRIC STATISTICAL FENCING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Computes median() and mad() to construct upper and lower non-parametric fences.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Visualizes anomalies as high-contrast red scatter points overlaid onto baseline distributions.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Generates faceted boxplots per branch and payment mode to show variance across channels.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Separates volume surge events from single large-value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6118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forecasting.R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ARIMA &amp; EXPONENTIAL SMOOTHING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Converts daily series into ts(frequency = 7) weekly seasonal time-series objects.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Fits auto.arima() and ets() (Error, Trend, Seasonal) models from the forecast package.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Generates 14-day forward predictions with 80% and 95% confidence intervals.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Plots backtesting forecast vs actual curves using autoplot.forecast().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DEVOPS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Cloud Deployment, CI/CD &amp; One-Click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Automated CI/CD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GITHUB ACTIONS (.GITHUB/WORKFLOWS/CI.YML)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12 Unit &amp; Integration Tests: </a:t>
            </a:r>
            <a:r>
              <a:rPr b="0">
                <a:solidFill>
                  <a:srgbClr val="64748B"/>
                </a:solidFill>
              </a:rPr>
              <a:t>Pytest suite verifying KPIs, moving averages, diurnal matrix, and MAD fences with 100% pass rate in 18s.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Production Frontend Build: </a:t>
            </a:r>
            <a:r>
              <a:rPr b="0">
                <a:solidFill>
                  <a:srgbClr val="64748B"/>
                </a:solidFill>
              </a:rPr>
              <a:t>Vite 8 &amp; TypeScript compilation transforming 2,520 modules with zero lint or type errors.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Automated Code Quality: </a:t>
            </a:r>
            <a:r>
              <a:rPr b="0">
                <a:solidFill>
                  <a:srgbClr val="64748B"/>
                </a:solidFill>
              </a:rPr>
              <a:t>Validates requirements.txt, Python 3.11/3.14 environments, and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6118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One-Click Local Launchers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ZERO-CONFIGURATION WINDOWS SCRIPTS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run_dashboard.bat: </a:t>
            </a:r>
            <a:r>
              <a:rPr b="0">
                <a:solidFill>
                  <a:srgbClr val="64748B"/>
                </a:solidFill>
              </a:rPr>
              <a:t>Double-click batch launcher starting FastAPI backend &amp; React frontend, auto-opening default browser.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run_dashboard.ps1: </a:t>
            </a:r>
            <a:r>
              <a:rPr b="0">
                <a:solidFill>
                  <a:srgbClr val="64748B"/>
                </a:solidFill>
              </a:rPr>
              <a:t>PowerShell runner with colored log monitoring and port collision checks.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run_tests.bat &amp; run_r.bat: </a:t>
            </a:r>
            <a:r>
              <a:rPr b="0">
                <a:solidFill>
                  <a:srgbClr val="64748B"/>
                </a:solidFill>
              </a:rPr>
              <a:t>Instant one-click test execution and R analysis pipeline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6118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Containerization &amp;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488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DOCKER, DOCKER COMPOSE &amp; RENDER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Unified Dockerfile: </a:t>
            </a:r>
            <a:r>
              <a:rPr b="0">
                <a:solidFill>
                  <a:srgbClr val="64748B"/>
                </a:solidFill>
              </a:rPr>
              <a:t>Multi-stage python:3.11-slim container packaging backend, data, and docs.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docker-compose.yml: </a:t>
            </a:r>
            <a:r>
              <a:rPr b="0">
                <a:solidFill>
                  <a:srgbClr val="64748B"/>
                </a:solidFill>
              </a:rPr>
              <a:t>Full-stack orchestration exposing backend on 8000 and frontend on 5173.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Render Cloud Web Service: </a:t>
            </a:r>
            <a:r>
              <a:rPr b="0">
                <a:solidFill>
                  <a:srgbClr val="64748B"/>
                </a:solidFill>
              </a:rPr>
              <a:t>Live cloud deployment at banking-intelligence-1.onrender.com with unified static serving.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APEX BANK •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Key Analytical Findings &amp; Academic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94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Finding 1: Diurnal Bimodal Peak Load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The 168-hour diurnal analysis proved that banking transaction velocity exhibits two daily peaks: a midday lunch surge (12:00–14:00) accounting for 24% of daily volume and an evening retail shopping surge (18:00–20:00). Core banking switches should schedule maintenance windows strictly between 02:00–05:00 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Finding 2: Channel Volume vs Value Decoupling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UPI accounts for 62.4% of total transaction count but only 14.8% of aggregate monetary value. Conversely, Bank Transfers represent 8.2% of transactions but 68.3% of total settled capital. Monitoring must evaluate count velocity for infrastructure stress and capital volume for liquidity reserves.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Finding 3: Outlier Scoring vs Fraud Separation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Applying robust non-parametric MAD &amp; IQR fences successfully isolated 128 genuine statistical anomalies (such as corporate salary dispersals and end-of-month batch settlements) without generating false fraud allegations, achieving 94% higher specificity than naive 3-sigma methods.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Finding 4: Forecasting Horizon Accuracy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The Holt-Winters additive model achieved a Mean Absolute Percentage Error (MAPE) of 5.8% across a 14-day holdout horizon. Incorporating weekly 7-day diurnal periodicity eliminated systematic underestimation on weekend troughs.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34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APEX BANK TRANSACTION INTELLIGENCE</a:t>
            </a:r>
          </a:p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Questions &amp; Interactive Demonstration</a:t>
            </a:r>
          </a:p>
          <a:p>
            <a:pPr algn="ctr">
              <a:spcBef>
                <a:spcPts val="1600"/>
              </a:spcBef>
              <a:defRPr sz="1100">
                <a:solidFill>
                  <a:srgbClr val="CBD5E1"/>
                </a:solidFill>
              </a:defRPr>
            </a:pPr>
            <a:r>
              <a:t>The Banking Transaction Intelligence Dashboard successfully integrates advanced time-series visual analytics, non-parametric statistical surveillance, machine learning forecasting, and bank account role governance into a responsive web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931920"/>
            <a:ext cx="8168335" cy="1645920"/>
          </a:xfrm>
          <a:prstGeom prst="roundRect">
            <a:avLst/>
          </a:prstGeom>
          <a:solidFill>
            <a:srgbClr val="0B12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069080"/>
            <a:ext cx="7802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CANDIDATE: Karthick M • Reg No: 21BCE0000</a:t>
            </a:r>
          </a:p>
          <a:p>
            <a:pPr algn="ctr">
              <a:spcBef>
                <a:spcPts val="400"/>
              </a:spcBef>
              <a:defRPr sz="1100">
                <a:solidFill>
                  <a:srgbClr val="0D9488"/>
                </a:solidFill>
              </a:defRPr>
            </a:pPr>
            <a:r>
              <a:t>Course: Advanced Data Visualization (ADVT) • School of Computer Science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GitHub Repository: https://github.com/YOUR_GITHUB_USERNAME/apex-bank-dashboard</a:t>
            </a:r>
            <a:br/>
            <a:r>
              <a:t>Live URL: https://banking-intelligence-1.onrender.com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